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diSZZhDvUGoB1G/wMPMrzMAJ9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solidFill>
            <a:srgbClr val="F7F7F7"/>
          </a:solidFill>
          <a:ln cap="flat" cmpd="sng" w="101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132588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NHN 아카데미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703320" y="1417320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FBP IoT Rule Engine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43082" y="2743189"/>
            <a:ext cx="2877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Malgun Gothic"/>
              <a:buNone/>
            </a:pPr>
            <a:r>
              <a:rPr b="0" i="0" lang="en-US" sz="19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ATGG_03_044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Malgun Gothic"/>
              <a:buNone/>
            </a:pPr>
            <a:r>
              <a:rPr b="0" i="0" lang="en-US" sz="19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정재영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1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29850" y="2887153"/>
            <a:ext cx="7851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754880" y="1234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프로젝트 전체 구조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754880" y="173736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 Flow 운영 기록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754880" y="22402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 전송 방식 분리 기록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54880" y="274320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04. 메트릭 수집과 저장 구조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754880" y="324612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05. InfluxDB 검증 화면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54880" y="37490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06. 구현 파일 기준 정리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754880" y="425196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07. 최종 기록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2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7" name="Google Shape;47;p3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 데이터가 Flow를 통과하고, 메트릭이 저장소로 넘어가는 구조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3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02920" y="1600200"/>
            <a:ext cx="1005840" cy="502920"/>
          </a:xfrm>
          <a:prstGeom prst="rect">
            <a:avLst/>
          </a:prstGeom>
          <a:solidFill>
            <a:srgbClr val="FFF8CC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IoT Sensor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JSON Flow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828800" y="1600200"/>
            <a:ext cx="100584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 Engine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/ Wire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154680" y="1600200"/>
            <a:ext cx="1005840" cy="502920"/>
          </a:xfrm>
          <a:prstGeom prst="rect">
            <a:avLst/>
          </a:prstGeom>
          <a:solidFill>
            <a:srgbClr val="FFF8CC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Metrics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Collector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80560" y="1600200"/>
            <a:ext cx="100584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Writer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806440" y="1600200"/>
            <a:ext cx="1005840" cy="502920"/>
          </a:xfrm>
          <a:prstGeom prst="rect">
            <a:avLst/>
          </a:prstGeom>
          <a:solidFill>
            <a:srgbClr val="FFF8CC"/>
          </a:solidFill>
          <a:ln cap="flat" cmpd="sng" w="10150">
            <a:solidFill>
              <a:srgbClr val="D45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132320" y="1600200"/>
            <a:ext cx="100584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45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Explorer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1508760" y="1856232"/>
            <a:ext cx="32004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" name="Google Shape;58;p3"/>
          <p:cNvCxnSpPr/>
          <p:nvPr/>
        </p:nvCxnSpPr>
        <p:spPr>
          <a:xfrm>
            <a:off x="2834640" y="1856232"/>
            <a:ext cx="32004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" name="Google Shape;59;p3"/>
          <p:cNvCxnSpPr/>
          <p:nvPr/>
        </p:nvCxnSpPr>
        <p:spPr>
          <a:xfrm>
            <a:off x="4160520" y="1856232"/>
            <a:ext cx="32004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" name="Google Shape;60;p3"/>
          <p:cNvCxnSpPr/>
          <p:nvPr/>
        </p:nvCxnSpPr>
        <p:spPr>
          <a:xfrm>
            <a:off x="5486400" y="1856232"/>
            <a:ext cx="32004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" name="Google Shape;61;p3"/>
          <p:cNvCxnSpPr/>
          <p:nvPr/>
        </p:nvCxnSpPr>
        <p:spPr>
          <a:xfrm>
            <a:off x="6812280" y="1856232"/>
            <a:ext cx="32004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" name="Google Shape;62;p3"/>
          <p:cNvSpPr/>
          <p:nvPr/>
        </p:nvSpPr>
        <p:spPr>
          <a:xfrm>
            <a:off x="777240" y="2743200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DC2"/>
              </a:buClr>
              <a:buSzPts val="700"/>
              <a:buFont typeface="Malgun Gothic"/>
              <a:buNone/>
            </a:pPr>
            <a:r>
              <a:rPr b="1" i="0" lang="en-US" sz="700" u="none" cap="none" strike="noStrike">
                <a:solidFill>
                  <a:srgbClr val="276DC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시작 화면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스크린샷 2026-05-07 오전 11.21.21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132418"/>
            <a:ext cx="3886200" cy="63888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4937760" y="274320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A9E"/>
              </a:buClr>
              <a:buSzPts val="700"/>
              <a:buFont typeface="Malgun Gothic"/>
              <a:buNone/>
            </a:pPr>
            <a:r>
              <a:rPr b="1" i="0" lang="en-US" sz="700" u="none" cap="none" strike="noStrike">
                <a:solidFill>
                  <a:srgbClr val="D45A9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결과 확인 화면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스크린샷 2026-05-08 오전 9.01.30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201" y="2971800"/>
            <a:ext cx="2754118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 1 · Flow를 어떻게 운영할까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4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49808" y="1024128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동작하는 명령만 CLI에 남긴 결정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스크린샷 2026-05-07 오전 11.21.21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50277"/>
            <a:ext cx="3840480" cy="63136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594360" y="272491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DC2"/>
              </a:buClr>
              <a:buSzPts val="700"/>
              <a:buFont typeface="Malgun Gothic"/>
              <a:buNone/>
            </a:pPr>
            <a:r>
              <a:rPr b="1" i="0" lang="en-US" sz="700" u="none" cap="none" strike="noStrike">
                <a:solidFill>
                  <a:srgbClr val="276DC2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기준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94360" y="2926080"/>
            <a:ext cx="3840480" cy="1325880"/>
          </a:xfrm>
          <a:prstGeom prst="rect">
            <a:avLst/>
          </a:prstGeom>
          <a:solidFill>
            <a:srgbClr val="F6F6F6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if ("flow list".equals(command)) return flowList();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if (command.startsWith("flow deploy ")) return flowDeploy(filePath);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if (command.startsWith("flow status ")) return flowStatus(flowId);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if (command.startsWith("flow start ")) return flowStart(flowId);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if (command.startsWith("flow stop ")) return flowStop(flowId);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754880" y="1417320"/>
            <a:ext cx="361188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CLI에 많은 명령을 넣을 수 있지만, 내부 기능이 없는 명령은 실제 운영 도구처럼 보이기 어렵다.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754880" y="2423160"/>
            <a:ext cx="361188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FlowManager와 실제로 연결된 list / deploy / status / start / stop / restart / remove 중심으로 정리했다.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754880" y="3429000"/>
            <a:ext cx="361188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터미널에서 flow JSON을 배포하고 시작하는 기본 운영 루프가 하나의 흐름으로 확인된다.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7" name="Google Shape;97;p5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5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 2 · 전송 방식을 노드 코드와 분리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5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49808" y="1024128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노드는 메시지를 처리하고, 연결 방식은 transport 계층이 담당하도록 분리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77240" y="1645920"/>
            <a:ext cx="109728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A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로직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423160" y="1645920"/>
            <a:ext cx="11887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76D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Connection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인터페이스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297680" y="1234440"/>
            <a:ext cx="1143000" cy="438912"/>
          </a:xfrm>
          <a:prstGeom prst="rect">
            <a:avLst/>
          </a:prstGeom>
          <a:solidFill>
            <a:srgbClr val="FFF8CC"/>
          </a:solidFill>
          <a:ln cap="flat" cmpd="sng" w="10150">
            <a:solidFill>
              <a:srgbClr val="F3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BlockingQueue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97680" y="2057400"/>
            <a:ext cx="1143000" cy="438912"/>
          </a:xfrm>
          <a:prstGeom prst="rect">
            <a:avLst/>
          </a:prstGeom>
          <a:solidFill>
            <a:srgbClr val="EAF7EE"/>
          </a:solidFill>
          <a:ln cap="flat" cmpd="sng" w="101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MQTT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Bridge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46520" y="1645920"/>
            <a:ext cx="109728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B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로직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1874520" y="1901952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5"/>
          <p:cNvCxnSpPr/>
          <p:nvPr/>
        </p:nvCxnSpPr>
        <p:spPr>
          <a:xfrm flipH="1" rot="10800000">
            <a:off x="3611880" y="1453896"/>
            <a:ext cx="685800" cy="448056"/>
          </a:xfrm>
          <a:prstGeom prst="straightConnector1">
            <a:avLst/>
          </a:prstGeom>
          <a:noFill/>
          <a:ln cap="flat" cmpd="sng" w="13950">
            <a:solidFill>
              <a:srgbClr val="276D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5"/>
          <p:cNvCxnSpPr/>
          <p:nvPr/>
        </p:nvCxnSpPr>
        <p:spPr>
          <a:xfrm>
            <a:off x="3611880" y="1901952"/>
            <a:ext cx="685800" cy="374904"/>
          </a:xfrm>
          <a:prstGeom prst="straightConnector1">
            <a:avLst/>
          </a:prstGeom>
          <a:noFill/>
          <a:ln cap="flat" cmpd="sng" w="13950">
            <a:solidFill>
              <a:srgbClr val="276D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5440680" y="1453896"/>
            <a:ext cx="1005840" cy="448056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5"/>
          <p:cNvCxnSpPr/>
          <p:nvPr/>
        </p:nvCxnSpPr>
        <p:spPr>
          <a:xfrm flipH="1" rot="10800000">
            <a:off x="5440680" y="1901952"/>
            <a:ext cx="1005840" cy="374904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5"/>
          <p:cNvSpPr/>
          <p:nvPr/>
        </p:nvSpPr>
        <p:spPr>
          <a:xfrm>
            <a:off x="731520" y="3154680"/>
            <a:ext cx="2377440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MQTT를 노드가 직접 알게 만들면 각 노드가 전송 방식에 묶인다.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337560" y="3154680"/>
            <a:ext cx="2148840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Connection을 기준으로 Local과 MQTT Bridge를 분리한다.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715000" y="3154680"/>
            <a:ext cx="2468880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 코드는 메시지 처리에 집중하고, transport 변경은 연결 계층에서 다룬다.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85800" y="4983480"/>
            <a:ext cx="7680960" cy="292608"/>
          </a:xfrm>
          <a:prstGeom prst="rect">
            <a:avLst/>
          </a:prstGeom>
          <a:solidFill>
            <a:srgbClr val="FFF8D7"/>
          </a:solidFill>
          <a:ln cap="flat" cmpd="sng" w="9525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0"/>
              <a:buFont typeface="Malgun Gothic"/>
              <a:buNone/>
            </a:pPr>
            <a:r>
              <a:rPr b="1" i="0" lang="en-US" sz="8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포인트: “MQTT 노드를 더 만든 것”이 아니라 “노드 사이의 길을 갈아끼울 수 있게 만든 것”으로 정리했다.</a:t>
            </a:r>
            <a:endParaRPr b="0" i="0" sz="8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6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 3 · 메트릭은 먼저 내부에서 모은다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6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49808" y="1024128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/ wire / domain 값을 모아 저장 단계와 분리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94360" y="1399032"/>
            <a:ext cx="3886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DC2"/>
              </a:buClr>
              <a:buSzPts val="700"/>
              <a:buFont typeface="Malgun Gothic"/>
              <a:buNone/>
            </a:pPr>
            <a:r>
              <a:rPr b="1" i="0" lang="en-US" sz="700" u="none" cap="none" strike="noStrike">
                <a:solidFill>
                  <a:srgbClr val="276DC2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MetricsInfluxExporter 기준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94360" y="1600200"/>
            <a:ext cx="3886200" cy="1508760"/>
          </a:xfrm>
          <a:prstGeom prst="rect">
            <a:avLst/>
          </a:prstGeom>
          <a:solidFill>
            <a:srgbClr val="F6F6F6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points.add(engineStatsPoint(...));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points.add(flowStatsPoint(summary, flowMetrics, ...));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points.addAll(nodeStatsPoints(summary.getId(), flowMetrics, ...));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points.addAll(wireStatsPoints(summary.getId(), collector, ...));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points.addAll(sensorRawPoints(collector.drainDomainRawMetrics()));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points.addAll(sensorWindowPoints(collector.getDomainWindowMetrics()));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892040" y="1417320"/>
            <a:ext cx="914400" cy="457200"/>
          </a:xfrm>
          <a:prstGeom prst="rect">
            <a:avLst/>
          </a:prstGeom>
          <a:solidFill>
            <a:srgbClr val="EAF1FF"/>
          </a:solidFill>
          <a:ln cap="flat" cmpd="sng" w="10150">
            <a:solidFill>
              <a:srgbClr val="276D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입출력/지연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892040" y="2130552"/>
            <a:ext cx="914400" cy="457200"/>
          </a:xfrm>
          <a:prstGeom prst="rect">
            <a:avLst/>
          </a:prstGeom>
          <a:solidFill>
            <a:srgbClr val="FFF8CC"/>
          </a:solidFill>
          <a:ln cap="flat" cmpd="sng" w="10150">
            <a:solidFill>
              <a:srgbClr val="F3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wire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전달/큐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92040" y="2843784"/>
            <a:ext cx="914400" cy="457200"/>
          </a:xfrm>
          <a:prstGeom prst="rect">
            <a:avLst/>
          </a:prstGeom>
          <a:solidFill>
            <a:srgbClr val="EAF7EE"/>
          </a:solidFill>
          <a:ln cap="flat" cmpd="sng" w="101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센서값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355080" y="2130552"/>
            <a:ext cx="100584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Metrics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Collector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635240" y="2130552"/>
            <a:ext cx="1005840" cy="502920"/>
          </a:xfrm>
          <a:prstGeom prst="rect">
            <a:avLst/>
          </a:prstGeom>
          <a:solidFill>
            <a:srgbClr val="FFEAF4"/>
          </a:solidFill>
          <a:ln cap="flat" cmpd="sng" w="10150">
            <a:solidFill>
              <a:srgbClr val="D45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Exporter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변환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5806440" y="1645920"/>
            <a:ext cx="548640" cy="73152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6"/>
          <p:cNvCxnSpPr/>
          <p:nvPr/>
        </p:nvCxnSpPr>
        <p:spPr>
          <a:xfrm>
            <a:off x="5806440" y="2359152"/>
            <a:ext cx="548640" cy="18288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" name="Google Shape;140;p6"/>
          <p:cNvCxnSpPr/>
          <p:nvPr/>
        </p:nvCxnSpPr>
        <p:spPr>
          <a:xfrm flipH="1" rot="10800000">
            <a:off x="5806440" y="2377440"/>
            <a:ext cx="548640" cy="694944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" name="Google Shape;141;p6"/>
          <p:cNvCxnSpPr/>
          <p:nvPr/>
        </p:nvCxnSpPr>
        <p:spPr>
          <a:xfrm>
            <a:off x="7360920" y="2377440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6"/>
          <p:cNvSpPr/>
          <p:nvPr/>
        </p:nvSpPr>
        <p:spPr>
          <a:xfrm>
            <a:off x="594360" y="370332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 처리 중 매번 외부 저장소에 직접 쓰면 처리 흐름이 저장소 상태에 묶인다.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291840" y="370332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엔진 내부에서 메트릭을 먼저 모으고, exporter가 주기적으로 읽어 변환한다.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989320" y="370332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책임과 저장 책임을 나눠 InfluxDB 장애가 처리 경로를 직접 막지 않도록 구성했다.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7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 4 · InfluxDB 전송은 batch와 retry로 처리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7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49808" y="1024128"/>
            <a:ext cx="6766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메트릭 포인트를 모아 보내고 실패하면 다시 버퍼에 넣는 구조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94360" y="1307592"/>
            <a:ext cx="37947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DC2"/>
              </a:buClr>
              <a:buSzPts val="700"/>
              <a:buFont typeface="Malgun Gothic"/>
              <a:buNone/>
            </a:pPr>
            <a:r>
              <a:rPr b="1" i="0" lang="en-US" sz="700" u="none" cap="none" strike="noStrike">
                <a:solidFill>
                  <a:srgbClr val="276DC2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InfluxDbWriter 기준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94360" y="1508760"/>
            <a:ext cx="3794760" cy="1737360"/>
          </a:xfrm>
          <a:prstGeom prst="rect">
            <a:avLst/>
          </a:prstGeom>
          <a:solidFill>
            <a:srgbClr val="F6F6F6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boolean added = buffer.offerLast(line);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if (!added) {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buffer.pollFirst();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totalDropped.incrementAndGet();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added = buffer.offerLast(line);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"/>
              <a:buFont typeface="Malgun Gothic"/>
              <a:buNone/>
            </a:pPr>
            <a:r>
              <a:t/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client.send(body);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totalWritten.addAndGet(batch.size());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709160" y="1737360"/>
            <a:ext cx="77724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Line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Protocol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715000" y="1737360"/>
            <a:ext cx="777240" cy="502920"/>
          </a:xfrm>
          <a:prstGeom prst="rect">
            <a:avLst/>
          </a:prstGeom>
          <a:solidFill>
            <a:srgbClr val="EAF1FF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Memory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Buffer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720840" y="1737360"/>
            <a:ext cx="777240" cy="502920"/>
          </a:xfrm>
          <a:prstGeom prst="rect">
            <a:avLst/>
          </a:prstGeom>
          <a:solidFill>
            <a:srgbClr val="FFF8CC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Flush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726680" y="1737360"/>
            <a:ext cx="77724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6" name="Google Shape;166;p7"/>
          <p:cNvCxnSpPr/>
          <p:nvPr/>
        </p:nvCxnSpPr>
        <p:spPr>
          <a:xfrm>
            <a:off x="5486400" y="1993392"/>
            <a:ext cx="22860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7"/>
          <p:cNvCxnSpPr/>
          <p:nvPr/>
        </p:nvCxnSpPr>
        <p:spPr>
          <a:xfrm>
            <a:off x="6492240" y="1993392"/>
            <a:ext cx="22860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7"/>
          <p:cNvCxnSpPr/>
          <p:nvPr/>
        </p:nvCxnSpPr>
        <p:spPr>
          <a:xfrm>
            <a:off x="7498080" y="1993392"/>
            <a:ext cx="228600" cy="0"/>
          </a:xfrm>
          <a:prstGeom prst="straightConnector1">
            <a:avLst/>
          </a:prstGeom>
          <a:noFill/>
          <a:ln cap="flat" cmpd="sng" w="13950">
            <a:solidFill>
              <a:srgbClr val="8A8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7"/>
          <p:cNvSpPr/>
          <p:nvPr/>
        </p:nvSpPr>
        <p:spPr>
          <a:xfrm>
            <a:off x="5897880" y="2606040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5A9E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D45A9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시 앞쪽에 재삽입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 rot="10800000">
            <a:off x="5806440" y="2514600"/>
            <a:ext cx="1508760" cy="0"/>
          </a:xfrm>
          <a:prstGeom prst="straightConnector1">
            <a:avLst/>
          </a:prstGeom>
          <a:noFill/>
          <a:ln cap="flat" cmpd="sng" w="13950">
            <a:solidFill>
              <a:srgbClr val="D45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7"/>
          <p:cNvSpPr/>
          <p:nvPr/>
        </p:nvSpPr>
        <p:spPr>
          <a:xfrm>
            <a:off x="594360" y="3886200"/>
            <a:ext cx="2514600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저장소 장애가 생겼을 때 모든 point를 즉시 버릴 것인지, 재시도할 것인지 결정해야 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291840" y="3886200"/>
            <a:ext cx="2514600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memory buffer에 쌓고 batchSize만큼 묶어 HTTP로 보내며, 실패한 batch는 앞쪽에 다시 넣는다.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989320" y="3886200"/>
            <a:ext cx="2514600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짧은 장애는 retry로 흡수하고, buffer가 가득 차면 오래된 데이터부터 정리하는 기본형을 만들었다.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4" name="Google Shape;184;p8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8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 5 · 저장 포맷을 한 줄로 변환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8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49808" y="1024128"/>
            <a:ext cx="7040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 / tag / field / timestamp를 InfluxDB line protocol로 정리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94360" y="1307592"/>
            <a:ext cx="4069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DC2"/>
              </a:buClr>
              <a:buSzPts val="700"/>
              <a:buFont typeface="Malgun Gothic"/>
              <a:buNone/>
            </a:pPr>
            <a:r>
              <a:rPr b="1" i="0" lang="en-US" sz="700" u="none" cap="none" strike="noStrike">
                <a:solidFill>
                  <a:srgbClr val="276DC2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InfluxPoint 기준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94360" y="1508760"/>
            <a:ext cx="4069080" cy="1737360"/>
          </a:xfrm>
          <a:prstGeom prst="rect">
            <a:avLst/>
          </a:prstGeom>
          <a:solidFill>
            <a:srgbClr val="F6F6F6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line.append(escapeMeasurement(measurement));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for (Map.Entry&lt;String, String&gt; tag : tags.entrySet()) {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line.append(",").append(escapeTag(key)).append("=").append(escapeTag(value));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line.append(" ");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line.append(escapeTag(key)).append("=").append(formatFieldValue(value));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620"/>
              <a:buFont typeface="Consolas"/>
              <a:buNone/>
            </a:pPr>
            <a:r>
              <a:rPr b="0" i="0" lang="en-US" sz="62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line.append(" ").append(timestampNanos);</a:t>
            </a:r>
            <a:endParaRPr b="0" i="0" sz="6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85800" y="3657600"/>
            <a:ext cx="7726680" cy="256032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DC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70"/>
              <a:buFont typeface="Consolas"/>
              <a:buNone/>
            </a:pPr>
            <a:r>
              <a:rPr b="0" i="0" lang="en-US" sz="57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sensor_raw,flow_id=stage3-plus-iot-sensor-flow,node_id=sensor,sensor_name=temperature value=21.1 1715130000000000000</a:t>
            </a:r>
            <a:endParaRPr b="0" i="0" sz="57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>
            <a:off x="880590" y="3959303"/>
            <a:ext cx="0" cy="320100"/>
          </a:xfrm>
          <a:prstGeom prst="straightConnector1">
            <a:avLst/>
          </a:prstGeom>
          <a:noFill/>
          <a:ln cap="flat" cmpd="sng" w="10150">
            <a:solidFill>
              <a:srgbClr val="276D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8"/>
          <p:cNvSpPr/>
          <p:nvPr/>
        </p:nvSpPr>
        <p:spPr>
          <a:xfrm>
            <a:off x="616896" y="4325075"/>
            <a:ext cx="527400" cy="274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76D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6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</a:t>
            </a:r>
            <a:endParaRPr b="0" i="0" sz="6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2016160" y="3959303"/>
            <a:ext cx="0" cy="320100"/>
          </a:xfrm>
          <a:prstGeom prst="straightConnector1">
            <a:avLst/>
          </a:prstGeom>
          <a:noFill/>
          <a:ln cap="flat" cmpd="sng" w="10150">
            <a:solidFill>
              <a:srgbClr val="F398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8"/>
          <p:cNvSpPr/>
          <p:nvPr/>
        </p:nvSpPr>
        <p:spPr>
          <a:xfrm>
            <a:off x="1752449" y="4325075"/>
            <a:ext cx="527400" cy="274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F3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tags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4303580" y="3959303"/>
            <a:ext cx="0" cy="320100"/>
          </a:xfrm>
          <a:prstGeom prst="straightConnector1">
            <a:avLst/>
          </a:prstGeom>
          <a:noFill/>
          <a:ln cap="flat" cmpd="sng" w="10150">
            <a:solidFill>
              <a:srgbClr val="2E8B5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8"/>
          <p:cNvSpPr/>
          <p:nvPr/>
        </p:nvSpPr>
        <p:spPr>
          <a:xfrm>
            <a:off x="4039875" y="4325075"/>
            <a:ext cx="527400" cy="274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fields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4983475" y="3959265"/>
            <a:ext cx="0" cy="320100"/>
          </a:xfrm>
          <a:prstGeom prst="straightConnector1">
            <a:avLst/>
          </a:prstGeom>
          <a:noFill/>
          <a:ln cap="flat" cmpd="sng" w="10150">
            <a:solidFill>
              <a:srgbClr val="D45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8"/>
          <p:cNvSpPr/>
          <p:nvPr/>
        </p:nvSpPr>
        <p:spPr>
          <a:xfrm>
            <a:off x="4719775" y="4325025"/>
            <a:ext cx="527400" cy="274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45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0"/>
              <a:buFont typeface="Malgun Gothic"/>
              <a:buNone/>
            </a:pPr>
            <a:r>
              <a:rPr b="1" i="0" lang="en-US" sz="73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timestamp</a:t>
            </a:r>
            <a:endParaRPr b="0" i="0" sz="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983480" y="1508760"/>
            <a:ext cx="31546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이유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 객체 그대로 저장하는 대신 InfluxDB가 읽을 수 있는 표준 텍스트 포맷으로 변환했다.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983480" y="2560320"/>
            <a:ext cx="31546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화면에서 measurement와 sensor_name, value field를 기준으로 query할 수 있는 형태가 되었다.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2" name="Google Shape;212;p9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9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기록 · InfluxDB Data Explorer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9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49808" y="1024128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sensor_raw measurement와 temperature 값을 query로 확인한 화면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스크린샷 2026-05-08 오전 9.01.30.png"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62" y="1463040"/>
            <a:ext cx="5508236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6400800" y="1463040"/>
            <a:ext cx="20116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화면에서 확인한 것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bucket: sensor_data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0"/>
              <a:buFont typeface="Malgun Gothic"/>
              <a:buNone/>
            </a:pP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measurement: sensor_raw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0"/>
              <a:buFont typeface="Malgun Gothic"/>
              <a:buNone/>
            </a:pP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sensor_name: temperature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0"/>
              <a:buFont typeface="Malgun Gothic"/>
              <a:buNone/>
            </a:pP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field: value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400800" y="3246120"/>
            <a:ext cx="201168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의미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CLI로 시작한 flow에서 생긴 센서값이 InfluxDB에 적재되고, Data Explorer에서 Flux query로 다시 조회되는 흐름을 확인했다.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0" name="Google Shape;230;p10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0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모니터링 화면 기록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10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49808" y="1024128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온도와 습도 값이 시간 축으로 저장·표시되는 결과 화면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스크린샷 2026-05-07 오전 11.20.52.png" id="235" name="Google Shape;2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13489"/>
            <a:ext cx="8001000" cy="191078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685800" y="3931920"/>
            <a:ext cx="24688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포인트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단순히 저장 코드만 작성한 것이 아니라, 실제 화면에서 시간별 센서값 그래프까지 확인했다.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337560" y="3931920"/>
            <a:ext cx="24688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흐름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 값 → Flow Engine → MetricsCollector → InfluxDB Writer → 시각화 화면으로 이어지는 흐름이 닫힌다.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989320" y="3931920"/>
            <a:ext cx="24688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 기준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/ humidity가 각각 그래프로 보이며, 여러 장치의 값이 같은 시간 축에 누적된다.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경과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9" name="Google Shape;249;p11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1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파일 기준 정리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11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49808" y="10241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기록에 사용한 파일과 책임</a:t>
            </a:r>
            <a:endParaRPr b="0" i="0" sz="9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85800" y="1508760"/>
            <a:ext cx="868680" cy="470263"/>
          </a:xfrm>
          <a:prstGeom prst="rect">
            <a:avLst/>
          </a:prstGeom>
          <a:solidFill>
            <a:srgbClr val="F4DD4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0"/>
              <a:buFont typeface="Malgun Gothic"/>
              <a:buNone/>
            </a:pPr>
            <a:r>
              <a:rPr b="1" i="0" lang="en-US" sz="7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</a:t>
            </a:r>
            <a:endParaRPr b="0" i="0" sz="7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554480" y="1508760"/>
            <a:ext cx="2651760" cy="470263"/>
          </a:xfrm>
          <a:prstGeom prst="rect">
            <a:avLst/>
          </a:prstGeom>
          <a:solidFill>
            <a:srgbClr val="F4DD4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0"/>
              <a:buFont typeface="Malgun Gothic"/>
              <a:buNone/>
            </a:pPr>
            <a:r>
              <a:rPr b="1" i="0" lang="en-US" sz="7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</a:t>
            </a:r>
            <a:endParaRPr b="0" i="0" sz="7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206240" y="1508760"/>
            <a:ext cx="4297680" cy="470263"/>
          </a:xfrm>
          <a:prstGeom prst="rect">
            <a:avLst/>
          </a:prstGeom>
          <a:solidFill>
            <a:srgbClr val="F4DD4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0"/>
              <a:buFont typeface="Malgun Gothic"/>
              <a:buNone/>
            </a:pPr>
            <a:r>
              <a:rPr b="1" i="0" lang="en-US" sz="7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기록할 책임</a:t>
            </a:r>
            <a:endParaRPr b="0" i="0" sz="7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85800" y="1979023"/>
            <a:ext cx="86868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 운영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554480" y="1979023"/>
            <a:ext cx="265176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Stage3PlusCli / Stage3PlusCommandHandler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206240" y="1979023"/>
            <a:ext cx="429768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 배포·상태·시작·중지 명령 처리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85800" y="2449286"/>
            <a:ext cx="86868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554480" y="2449286"/>
            <a:ext cx="265176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InfluxDbConfig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206240" y="2449286"/>
            <a:ext cx="429768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url / token / org / bucket / batch / retry 설정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85800" y="2919549"/>
            <a:ext cx="86868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전송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554480" y="2919549"/>
            <a:ext cx="265176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JdkInfluxHttpClient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206240" y="2919549"/>
            <a:ext cx="429768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 v2 write API로 HTTP 전송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85800" y="3389811"/>
            <a:ext cx="86868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버퍼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554480" y="3389811"/>
            <a:ext cx="265176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InfluxDbWriter / Status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206240" y="3389811"/>
            <a:ext cx="429768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memory buffer, batch flush, retry, dropped count 관리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85800" y="3860074"/>
            <a:ext cx="86868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포맷 변환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554480" y="3860074"/>
            <a:ext cx="265176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InfluxPoint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206240" y="3860074"/>
            <a:ext cx="4297680" cy="4702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 / tag / field / timestamp를 line protocol로 변환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85800" y="4330337"/>
            <a:ext cx="86868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1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Exporter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554480" y="4330337"/>
            <a:ext cx="265176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MetricsInfluxExporter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206240" y="4330337"/>
            <a:ext cx="4297680" cy="470263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60"/>
              <a:buFont typeface="Malgun Gothic"/>
              <a:buNone/>
            </a:pPr>
            <a:r>
              <a:rPr b="0" i="0" lang="en-US" sz="66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/ wire / domain metrics를 Influx point로 변환</a:t>
            </a:r>
            <a:endParaRPr b="0" i="0" sz="6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0" y="109728"/>
            <a:ext cx="137160" cy="6638544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4DD43"/>
          </a:solidFill>
          <a:ln cap="flat" cmpd="sng" w="12700">
            <a:solidFill>
              <a:srgbClr val="F4DD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301752" y="21031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7D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713232" y="228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평가 의견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5" name="Google Shape;285;p12"/>
          <p:cNvCxnSpPr/>
          <p:nvPr/>
        </p:nvCxnSpPr>
        <p:spPr>
          <a:xfrm>
            <a:off x="2971800" y="393192"/>
            <a:ext cx="571500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2"/>
          <p:cNvSpPr/>
          <p:nvPr/>
        </p:nvSpPr>
        <p:spPr>
          <a:xfrm>
            <a:off x="530352" y="713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49808" y="70408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0"/>
              <a:buFont typeface="Malgun Gothic"/>
              <a:buNone/>
            </a:pPr>
            <a:r>
              <a:rPr b="1" i="0" lang="en-US" sz="88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기록 · 프로젝트 산출물로 남길 핵심 내용</a:t>
            </a:r>
            <a:endParaRPr b="0" i="0" sz="88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8183880" y="647395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 12 ›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스크린샷 2026-05-07 오전 11.21.21.png" id="289" name="Google Shape;2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39883"/>
            <a:ext cx="2743199" cy="450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스크린샷 2026-05-08 오전 9.01.30.png" id="290" name="Google Shape;2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2" y="2834630"/>
            <a:ext cx="2002996" cy="146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3886200" y="1416243"/>
            <a:ext cx="4480500" cy="62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운영 루프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CLI에서 flow JSON을 배포하고 시작하는 기본 운영 흐름을 만들었다.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3886200" y="2494153"/>
            <a:ext cx="4480500" cy="62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수집 구조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/ wire / domain metric을 내부에서 수집하고 exporter가 저장용 point로 변환한다.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3886200" y="3662425"/>
            <a:ext cx="4480500" cy="62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저장 구조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InfluxDB line protocol, batch writer, retry buffer로 실제 적재 흐름을 구성했다.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886200" y="4809760"/>
            <a:ext cx="4480500" cy="62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800"/>
              </a:buClr>
              <a:buSzPts val="820"/>
              <a:buFont typeface="Malgun Gothic"/>
              <a:buNone/>
            </a:pPr>
            <a: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결과 확인</a:t>
            </a:r>
            <a:br>
              <a:rPr b="1" i="0" lang="en-US" sz="820" u="none" cap="none" strike="noStrike">
                <a:solidFill>
                  <a:srgbClr val="F398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2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 실행 화면과 InfluxDB Data Explorer, 그래프 화면으로 데이터 흐름을 확인했다.</a:t>
            </a:r>
            <a:endParaRPr b="0" i="0" sz="8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2026-05-08T06:00:26Z</dcterms:created>
  <dc:creator>OpenAI</dc:creator>
</cp:coreProperties>
</file>